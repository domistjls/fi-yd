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0" Type="http://schemas.openxmlformats.org/officeDocument/2006/relationships/slide" Target="slides/slide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c298cc9c3b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g3c298cc9c3b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298cc9c3b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g3c298cc9c3b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c298cc9c3b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g3c298cc9c3b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298cc9c3b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c298cc9c3b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298cc9c3b_0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g3c298cc9c3b_0_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descr="图层 6" id="56" name="Google Shape;56;p13"/>
          <p:cNvPicPr preferRelativeResize="0"/>
          <p:nvPr/>
        </p:nvPicPr>
        <p:blipFill rotWithShape="1">
          <a:blip r:embed="rId2">
            <a:alphaModFix amt="20000"/>
          </a:blip>
          <a:srcRect b="0" l="0" r="0" t="0"/>
          <a:stretch/>
        </p:blipFill>
        <p:spPr>
          <a:xfrm flipH="1">
            <a:off x="7630954" y="-592455"/>
            <a:ext cx="1513046" cy="64093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BJECT" id="61" name="Google Shape;6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1954" y="1049655"/>
            <a:ext cx="3118009" cy="2795112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/>
        </p:nvSpPr>
        <p:spPr>
          <a:xfrm>
            <a:off x="3097768" y="1816894"/>
            <a:ext cx="54570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36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Facility and Infrastructure</a:t>
            </a:r>
            <a:endParaRPr b="1" i="0" sz="3600" u="none" cap="none" strike="noStrik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You should show </a:t>
            </a:r>
            <a:r>
              <a:rPr lang="ru">
                <a:solidFill>
                  <a:srgbClr val="FF0000"/>
                </a:solidFill>
              </a:rPr>
              <a:t>a schematic diagram</a:t>
            </a:r>
            <a:r>
              <a:rPr lang="ru"/>
              <a:t> illustrating the interconnected structure of Demeter’s transportation system, emphasizing </a:t>
            </a:r>
            <a:r>
              <a:rPr lang="ru">
                <a:solidFill>
                  <a:srgbClr val="FF0000"/>
                </a:solidFill>
              </a:rPr>
              <a:t>crucial infrastructure elements</a:t>
            </a:r>
            <a:r>
              <a:rPr lang="ru"/>
              <a:t>, </a:t>
            </a:r>
            <a:r>
              <a:rPr lang="ru">
                <a:solidFill>
                  <a:srgbClr val="FF0000"/>
                </a:solidFill>
              </a:rPr>
              <a:t>transportation modes,</a:t>
            </a:r>
            <a:r>
              <a:rPr lang="ru"/>
              <a:t> and clearly illustrating the</a:t>
            </a:r>
            <a:r>
              <a:rPr lang="ru">
                <a:solidFill>
                  <a:srgbClr val="FF0000"/>
                </a:solidFill>
              </a:rPr>
              <a:t> flow lines</a:t>
            </a:r>
            <a:r>
              <a:rPr lang="ru"/>
              <a:t> for both personnel and goods.</a:t>
            </a:r>
            <a:endParaRPr/>
          </a:p>
        </p:txBody>
      </p:sp>
      <p:pic>
        <p:nvPicPr>
          <p:cNvPr descr="GFSSM英文黑底-横" id="69" name="Google Shape;69;p15"/>
          <p:cNvPicPr preferRelativeResize="0"/>
          <p:nvPr/>
        </p:nvPicPr>
        <p:blipFill rotWithShape="1">
          <a:blip r:embed="rId4">
            <a:alphaModFix/>
          </a:blip>
          <a:srcRect b="37813" l="0" r="79036" t="34596"/>
          <a:stretch/>
        </p:blipFill>
        <p:spPr>
          <a:xfrm>
            <a:off x="379095" y="230505"/>
            <a:ext cx="513875" cy="79009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>
            <p:ph type="title"/>
          </p:nvPr>
        </p:nvSpPr>
        <p:spPr>
          <a:xfrm>
            <a:off x="811530" y="128588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ru"/>
              <a:t>1 Transportation Infrastructure</a:t>
            </a:r>
            <a:endParaRPr/>
          </a:p>
        </p:txBody>
      </p:sp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You should design</a:t>
            </a:r>
            <a:r>
              <a:rPr lang="ru">
                <a:solidFill>
                  <a:srgbClr val="FF0000"/>
                </a:solidFill>
              </a:rPr>
              <a:t> a conceptual diagram</a:t>
            </a:r>
            <a:r>
              <a:rPr lang="ru"/>
              <a:t> of the communication system, and specify the adopted </a:t>
            </a:r>
            <a:r>
              <a:rPr lang="ru">
                <a:solidFill>
                  <a:srgbClr val="FF0000"/>
                </a:solidFill>
              </a:rPr>
              <a:t>technologies and bandwidth</a:t>
            </a:r>
            <a:r>
              <a:rPr lang="ru"/>
              <a:t> specifications for each communication link.</a:t>
            </a:r>
            <a:endParaRPr/>
          </a:p>
        </p:txBody>
      </p:sp>
      <p:pic>
        <p:nvPicPr>
          <p:cNvPr descr="GFSSM英文黑底-横" id="77" name="Google Shape;77;p16"/>
          <p:cNvPicPr preferRelativeResize="0"/>
          <p:nvPr/>
        </p:nvPicPr>
        <p:blipFill rotWithShape="1">
          <a:blip r:embed="rId4">
            <a:alphaModFix/>
          </a:blip>
          <a:srcRect b="37813" l="0" r="79036" t="34596"/>
          <a:stretch/>
        </p:blipFill>
        <p:spPr>
          <a:xfrm>
            <a:off x="379095" y="230505"/>
            <a:ext cx="513875" cy="79009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>
            <p:ph type="title"/>
          </p:nvPr>
        </p:nvSpPr>
        <p:spPr>
          <a:xfrm>
            <a:off x="811530" y="128588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ru"/>
              <a:t>2 Communication Infrastructure</a:t>
            </a:r>
            <a:endParaRPr/>
          </a:p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You should design</a:t>
            </a:r>
            <a:r>
              <a:rPr lang="ru">
                <a:solidFill>
                  <a:srgbClr val="FF0000"/>
                </a:solidFill>
              </a:rPr>
              <a:t> a system architecture diagram </a:t>
            </a:r>
            <a:r>
              <a:rPr lang="ru"/>
              <a:t>of the communication system to illustrate how the AI system collaborates with humans to jointly operate Demeter and support</a:t>
            </a:r>
            <a:r>
              <a:rPr lang="ru">
                <a:solidFill>
                  <a:srgbClr val="FF0000"/>
                </a:solidFill>
              </a:rPr>
              <a:t> long-term human activities</a:t>
            </a:r>
            <a:r>
              <a:rPr lang="ru"/>
              <a:t>. </a:t>
            </a:r>
            <a:endParaRPr/>
          </a:p>
        </p:txBody>
      </p:sp>
      <p:pic>
        <p:nvPicPr>
          <p:cNvPr descr="GFSSM英文黑底-横" id="85" name="Google Shape;85;p17"/>
          <p:cNvPicPr preferRelativeResize="0"/>
          <p:nvPr/>
        </p:nvPicPr>
        <p:blipFill rotWithShape="1">
          <a:blip r:embed="rId4">
            <a:alphaModFix/>
          </a:blip>
          <a:srcRect b="37813" l="0" r="79036" t="34596"/>
          <a:stretch/>
        </p:blipFill>
        <p:spPr>
          <a:xfrm>
            <a:off x="379095" y="230505"/>
            <a:ext cx="513875" cy="79009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 txBox="1"/>
          <p:nvPr>
            <p:ph type="title"/>
          </p:nvPr>
        </p:nvSpPr>
        <p:spPr>
          <a:xfrm>
            <a:off x="811530" y="128588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ru"/>
              <a:t>3 AI System</a:t>
            </a:r>
            <a:endParaRPr/>
          </a:p>
        </p:txBody>
      </p:sp>
      <p:sp>
        <p:nvSpPr>
          <p:cNvPr id="87" name="Google Shape;87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You should design </a:t>
            </a:r>
            <a:r>
              <a:rPr lang="ru">
                <a:solidFill>
                  <a:srgbClr val="FF0000"/>
                </a:solidFill>
              </a:rPr>
              <a:t>a robot</a:t>
            </a:r>
            <a:r>
              <a:rPr lang="ru"/>
              <a:t> that can work under Psyche’s </a:t>
            </a:r>
            <a:r>
              <a:rPr lang="ru">
                <a:solidFill>
                  <a:srgbClr val="FF0000"/>
                </a:solidFill>
              </a:rPr>
              <a:t>low-gravity environment</a:t>
            </a:r>
            <a:r>
              <a:rPr lang="ru"/>
              <a:t> and complete excavation and mining work and provide its </a:t>
            </a:r>
            <a:r>
              <a:rPr lang="ru">
                <a:solidFill>
                  <a:srgbClr val="FF0000"/>
                </a:solidFill>
              </a:rPr>
              <a:t>design drawing </a:t>
            </a:r>
            <a:r>
              <a:rPr lang="ru"/>
              <a:t>with </a:t>
            </a:r>
            <a:r>
              <a:rPr lang="ru">
                <a:solidFill>
                  <a:srgbClr val="FF0000"/>
                </a:solidFill>
              </a:rPr>
              <a:t>clear labeling</a:t>
            </a:r>
            <a:r>
              <a:rPr lang="ru"/>
              <a:t> of functions and dimensions.</a:t>
            </a:r>
            <a:endParaRPr/>
          </a:p>
        </p:txBody>
      </p:sp>
      <p:pic>
        <p:nvPicPr>
          <p:cNvPr descr="GFSSM英文黑底-横" id="93" name="Google Shape;93;p18"/>
          <p:cNvPicPr preferRelativeResize="0"/>
          <p:nvPr/>
        </p:nvPicPr>
        <p:blipFill rotWithShape="1">
          <a:blip r:embed="rId4">
            <a:alphaModFix/>
          </a:blip>
          <a:srcRect b="37813" l="0" r="79036" t="34596"/>
          <a:stretch/>
        </p:blipFill>
        <p:spPr>
          <a:xfrm>
            <a:off x="379095" y="230505"/>
            <a:ext cx="513875" cy="79009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 txBox="1"/>
          <p:nvPr>
            <p:ph type="title"/>
          </p:nvPr>
        </p:nvSpPr>
        <p:spPr>
          <a:xfrm>
            <a:off x="811530" y="128588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ru"/>
              <a:t>4 Mining Robot</a:t>
            </a:r>
            <a:endParaRPr/>
          </a:p>
        </p:txBody>
      </p:sp>
      <p:sp>
        <p:nvSpPr>
          <p:cNvPr id="95" name="Google Shape;95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